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as"/>
          <p:cNvSpPr txBox="1"/>
          <p:nvPr>
            <p:ph type="body" idx="1"/>
          </p:nvPr>
        </p:nvSpPr>
        <p:spPr/>
        <p:txBody>
          <a:bodyPr/>
          <a:lstStyle/>
          <a:p>
            <a:pPr algn="l"/>
            <a:r>
              <a:rPr lang="pt-BR" sz="1200" b="0">
                <a:solidFill>
                  <a:srgbClr val="111111"/>
                </a:solidFill>
                <a:latin typeface="Arial"/>
              </a:rPr>
              <a:t>Datasets planejados, não resultados de desempenho. Fonte: scripts/ovx/go2_datasets.tsv. Todos os oito itens usam v0; o dataset histórico expert-v1 não integra esse manifesto.</a:t>
            </a:r>
            <a:endParaRPr lang="pt-BR" sz="1200"/>
          </a:p>
          <a:p>
            <a:pPr algn="l"/>
            <a:r>
              <a:rPr lang="pt-BR" sz="1200" b="0">
                <a:solidFill>
                  <a:srgbClr val="111111"/>
                </a:solidFill>
                <a:latin typeface="Arial"/>
              </a:rPr>
              <a:t>Go2JoystickFlatTerrain-direction-expert-v0 | go2-joystick-direction/expert-v0</a:t>
            </a:r>
            <a:endParaRPr lang="pt-BR" sz="1200"/>
          </a:p>
          <a:p>
            <a:pPr algn="l"/>
            <a:r>
              <a:rPr lang="pt-BR" sz="1200" b="0">
                <a:solidFill>
                  <a:srgbClr val="111111"/>
                </a:solidFill>
                <a:latin typeface="Arial"/>
              </a:rPr>
              <a:t>Go2JoystickFlatTerrain-direction-medium-expert-v0 | go2-joystick-direction/medium-expert-v0</a:t>
            </a:r>
            <a:endParaRPr lang="pt-BR" sz="1200"/>
          </a:p>
          <a:p>
            <a:pPr algn="l"/>
            <a:r>
              <a:rPr lang="pt-BR" sz="1200" b="0">
                <a:solidFill>
                  <a:srgbClr val="111111"/>
                </a:solidFill>
                <a:latin typeface="Arial"/>
              </a:rPr>
              <a:t>Go2JoystickFlatTerrain-direction-medium-replay-v0 | go2-joystick-direction/medium-replay-v0</a:t>
            </a:r>
            <a:endParaRPr lang="pt-BR" sz="1200"/>
          </a:p>
          <a:p>
            <a:pPr algn="l"/>
            <a:r>
              <a:rPr lang="pt-BR" sz="1200" b="0">
                <a:solidFill>
                  <a:srgbClr val="111111"/>
                </a:solidFill>
                <a:latin typeface="Arial"/>
              </a:rPr>
              <a:t>Go2JoystickFlatTerrain-direction-medium-v0 | go2-joystick-direction/medium-v0</a:t>
            </a:r>
            <a:endParaRPr lang="pt-BR" sz="1200"/>
          </a:p>
          <a:p>
            <a:pPr algn="l"/>
            <a:r>
              <a:rPr lang="pt-BR" sz="1200" b="0">
                <a:solidFill>
                  <a:srgbClr val="111111"/>
                </a:solidFill>
                <a:latin typeface="Arial"/>
              </a:rPr>
              <a:t>Go2JoystickFlatTerrain-forward-expert-v0 | go2-flat-forward/expert-v0</a:t>
            </a:r>
            <a:endParaRPr lang="pt-BR" sz="1200"/>
          </a:p>
          <a:p>
            <a:pPr algn="l"/>
            <a:r>
              <a:rPr lang="pt-BR" sz="1200" b="0">
                <a:solidFill>
                  <a:srgbClr val="111111"/>
                </a:solidFill>
                <a:latin typeface="Arial"/>
              </a:rPr>
              <a:t>Go2JoystickFlatTerrain-forward-medium-expert-v0 | go2-flat-forward/medium-expert-v0</a:t>
            </a:r>
            <a:endParaRPr lang="pt-BR" sz="1200"/>
          </a:p>
          <a:p>
            <a:pPr algn="l"/>
            <a:r>
              <a:rPr lang="pt-BR" sz="1200" b="0">
                <a:solidFill>
                  <a:srgbClr val="111111"/>
                </a:solidFill>
                <a:latin typeface="Arial"/>
              </a:rPr>
              <a:t>Go2JoystickFlatTerrain-forward-medium-replay-v0 | go2-flat-forward/medium-replay-v0</a:t>
            </a:r>
            <a:endParaRPr lang="pt-BR" sz="1200"/>
          </a:p>
          <a:p>
            <a:pPr algn="l"/>
            <a:r>
              <a:rPr lang="pt-BR" sz="1200" b="0">
                <a:solidFill>
                  <a:srgbClr val="111111"/>
                </a:solidFill>
                <a:latin typeface="Arial"/>
              </a:rPr>
              <a:t>Go2JoystickFlatTerrain-forward-medium-v0 | go2-flat-forward/medium-v0</a:t>
            </a:r>
            <a:endParaRPr lang="pt-BR" sz="1200"/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as"/>
          <p:cNvSpPr txBox="1"/>
          <p:nvPr>
            <p:ph type="body" idx="1"/>
          </p:nvPr>
        </p:nvSpPr>
        <p:spPr/>
        <p:txBody>
          <a:bodyPr/>
          <a:lstStyle/>
          <a:p>
            <a:pPr algn="l"/>
            <a:r>
              <a:rPr lang="pt-BR" sz="1200" b="0">
                <a:solidFill>
                  <a:srgbClr val="111111"/>
                </a:solidFill>
                <a:latin typeface="Arial"/>
              </a:rPr>
              <a:t>Fonte local: scripts/ovx/go2_datasets.tsv. Caminhos de origem e nomes exatos:</a:t>
            </a:r>
            <a:endParaRPr lang="pt-BR" sz="1200"/>
          </a:p>
          <a:p>
            <a:pPr algn="l"/>
            <a:r>
              <a:rPr lang="pt-BR" sz="1200" b="0">
                <a:solidFill>
                  <a:srgbClr val="111111"/>
                </a:solidFill>
                <a:latin typeface="Arial"/>
              </a:rPr>
              <a:t>Go2JoystickFlatTerrain-direction-expert-v0</a:t>
            </a:r>
            <a:endParaRPr lang="pt-BR" sz="1200"/>
          </a:p>
          <a:p>
            <a:pPr algn="l"/>
            <a:r>
              <a:rPr lang="pt-BR" sz="1200" b="0">
                <a:solidFill>
                  <a:srgbClr val="111111"/>
                </a:solidFill>
                <a:latin typeface="Arial"/>
              </a:rPr>
              <a:t>go2-joystick-direction/expert-v0</a:t>
            </a:r>
            <a:endParaRPr lang="pt-BR" sz="1200"/>
          </a:p>
          <a:p>
            <a:pPr algn="l"/>
            <a:r>
              <a:rPr lang="pt-BR" sz="1200" b="0">
                <a:solidFill>
                  <a:srgbClr val="111111"/>
                </a:solidFill>
                <a:latin typeface="Arial"/>
              </a:rPr>
              <a:t>SHA-256: 58ff9a4061d8f378bdff9e6f2f34d7d04634808259c6439e00bac6e7c1522343</a:t>
            </a:r>
            <a:endParaRPr lang="pt-BR" sz="1200"/>
          </a:p>
          <a:p>
            <a:pPr algn="l"/>
            <a:r>
              <a:rPr lang="pt-BR" sz="1200" b="0">
                <a:solidFill>
                  <a:srgbClr val="111111"/>
                </a:solidFill>
                <a:latin typeface="Arial"/>
              </a:rPr>
              <a:t>Go2JoystickFlatTerrain-direction-medium-expert-v0</a:t>
            </a:r>
            <a:endParaRPr lang="pt-BR" sz="1200"/>
          </a:p>
          <a:p>
            <a:pPr algn="l"/>
            <a:r>
              <a:rPr lang="pt-BR" sz="1200" b="0">
                <a:solidFill>
                  <a:srgbClr val="111111"/>
                </a:solidFill>
                <a:latin typeface="Arial"/>
              </a:rPr>
              <a:t>go2-joystick-direction/medium-expert-v0</a:t>
            </a:r>
            <a:endParaRPr lang="pt-BR" sz="1200"/>
          </a:p>
          <a:p>
            <a:pPr algn="l"/>
            <a:r>
              <a:rPr lang="pt-BR" sz="1200" b="0">
                <a:solidFill>
                  <a:srgbClr val="111111"/>
                </a:solidFill>
                <a:latin typeface="Arial"/>
              </a:rPr>
              <a:t>SHA-256: 0a704281dd8dbefd86992944e5225755fda003fc10d842488a8d2f2d0f828fb8</a:t>
            </a:r>
            <a:endParaRPr lang="pt-BR" sz="1200"/>
          </a:p>
          <a:p>
            <a:pPr algn="l"/>
            <a:r>
              <a:rPr lang="pt-BR" sz="1200" b="0">
                <a:solidFill>
                  <a:srgbClr val="111111"/>
                </a:solidFill>
                <a:latin typeface="Arial"/>
              </a:rPr>
              <a:t>Go2JoystickFlatTerrain-direction-medium-replay-v0</a:t>
            </a:r>
            <a:endParaRPr lang="pt-BR" sz="1200"/>
          </a:p>
          <a:p>
            <a:pPr algn="l"/>
            <a:r>
              <a:rPr lang="pt-BR" sz="1200" b="0">
                <a:solidFill>
                  <a:srgbClr val="111111"/>
                </a:solidFill>
                <a:latin typeface="Arial"/>
              </a:rPr>
              <a:t>go2-joystick-direction/medium-replay-v0</a:t>
            </a:r>
            <a:endParaRPr lang="pt-BR" sz="1200"/>
          </a:p>
          <a:p>
            <a:pPr algn="l"/>
            <a:r>
              <a:rPr lang="pt-BR" sz="1200" b="0">
                <a:solidFill>
                  <a:srgbClr val="111111"/>
                </a:solidFill>
                <a:latin typeface="Arial"/>
              </a:rPr>
              <a:t>SHA-256: 12a15665780eeece5827f01f3b42733b201601d0dec605bbb2e073d0122801eb</a:t>
            </a:r>
            <a:endParaRPr lang="pt-BR" sz="1200"/>
          </a:p>
          <a:p>
            <a:pPr algn="l"/>
            <a:r>
              <a:rPr lang="pt-BR" sz="1200" b="0">
                <a:solidFill>
                  <a:srgbClr val="111111"/>
                </a:solidFill>
                <a:latin typeface="Arial"/>
              </a:rPr>
              <a:t>Go2JoystickFlatTerrain-direction-medium-v0</a:t>
            </a:r>
            <a:endParaRPr lang="pt-BR" sz="1200"/>
          </a:p>
          <a:p>
            <a:pPr algn="l"/>
            <a:r>
              <a:rPr lang="pt-BR" sz="1200" b="0">
                <a:solidFill>
                  <a:srgbClr val="111111"/>
                </a:solidFill>
                <a:latin typeface="Arial"/>
              </a:rPr>
              <a:t>go2-joystick-direction/medium-v0</a:t>
            </a:r>
            <a:endParaRPr lang="pt-BR" sz="1200"/>
          </a:p>
          <a:p>
            <a:pPr algn="l"/>
            <a:r>
              <a:rPr lang="pt-BR" sz="1200" b="0">
                <a:solidFill>
                  <a:srgbClr val="111111"/>
                </a:solidFill>
                <a:latin typeface="Arial"/>
              </a:rPr>
              <a:t>SHA-256: 7a8442dfa598ddf26a9f17a99ff9a53504c92a7d68d29aad2231f2627e641922</a:t>
            </a:r>
            <a:endParaRPr lang="pt-BR" sz="1200"/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as"/>
          <p:cNvSpPr txBox="1"/>
          <p:nvPr>
            <p:ph type="body" idx="1"/>
          </p:nvPr>
        </p:nvSpPr>
        <p:spPr/>
        <p:txBody>
          <a:bodyPr/>
          <a:lstStyle/>
          <a:p>
            <a:pPr algn="l"/>
            <a:r>
              <a:rPr lang="pt-BR" sz="1200" b="0">
                <a:solidFill>
                  <a:srgbClr val="111111"/>
                </a:solidFill>
                <a:latin typeface="Arial"/>
              </a:rPr>
              <a:t>Fonte local: scripts/ovx/go2_datasets.tsv. Caminhos de origem e nomes exatos:</a:t>
            </a:r>
            <a:endParaRPr lang="pt-BR" sz="1200"/>
          </a:p>
          <a:p>
            <a:pPr algn="l"/>
            <a:r>
              <a:rPr lang="pt-BR" sz="1200" b="0">
                <a:solidFill>
                  <a:srgbClr val="111111"/>
                </a:solidFill>
                <a:latin typeface="Arial"/>
              </a:rPr>
              <a:t>Go2JoystickFlatTerrain-forward-expert-v0</a:t>
            </a:r>
            <a:endParaRPr lang="pt-BR" sz="1200"/>
          </a:p>
          <a:p>
            <a:pPr algn="l"/>
            <a:r>
              <a:rPr lang="pt-BR" sz="1200" b="0">
                <a:solidFill>
                  <a:srgbClr val="111111"/>
                </a:solidFill>
                <a:latin typeface="Arial"/>
              </a:rPr>
              <a:t>go2-flat-forward/expert-v0</a:t>
            </a:r>
            <a:endParaRPr lang="pt-BR" sz="1200"/>
          </a:p>
          <a:p>
            <a:pPr algn="l"/>
            <a:r>
              <a:rPr lang="pt-BR" sz="1200" b="0">
                <a:solidFill>
                  <a:srgbClr val="111111"/>
                </a:solidFill>
                <a:latin typeface="Arial"/>
              </a:rPr>
              <a:t>SHA-256: 16acf3f2d7fbec11e2874f1b0d002a7d3d4000f0053a86067662c511f4eb6d60</a:t>
            </a:r>
            <a:endParaRPr lang="pt-BR" sz="1200"/>
          </a:p>
          <a:p>
            <a:pPr algn="l"/>
            <a:r>
              <a:rPr lang="pt-BR" sz="1200" b="0">
                <a:solidFill>
                  <a:srgbClr val="111111"/>
                </a:solidFill>
                <a:latin typeface="Arial"/>
              </a:rPr>
              <a:t>Go2JoystickFlatTerrain-forward-medium-expert-v0</a:t>
            </a:r>
            <a:endParaRPr lang="pt-BR" sz="1200"/>
          </a:p>
          <a:p>
            <a:pPr algn="l"/>
            <a:r>
              <a:rPr lang="pt-BR" sz="1200" b="0">
                <a:solidFill>
                  <a:srgbClr val="111111"/>
                </a:solidFill>
                <a:latin typeface="Arial"/>
              </a:rPr>
              <a:t>go2-flat-forward/medium-expert-v0</a:t>
            </a:r>
            <a:endParaRPr lang="pt-BR" sz="1200"/>
          </a:p>
          <a:p>
            <a:pPr algn="l"/>
            <a:r>
              <a:rPr lang="pt-BR" sz="1200" b="0">
                <a:solidFill>
                  <a:srgbClr val="111111"/>
                </a:solidFill>
                <a:latin typeface="Arial"/>
              </a:rPr>
              <a:t>SHA-256: 71ab3117e71f7d6e1cad7d4d499347417cb315022f2bee223f5fb34ba10d74ee</a:t>
            </a:r>
            <a:endParaRPr lang="pt-BR" sz="1200"/>
          </a:p>
          <a:p>
            <a:pPr algn="l"/>
            <a:r>
              <a:rPr lang="pt-BR" sz="1200" b="0">
                <a:solidFill>
                  <a:srgbClr val="111111"/>
                </a:solidFill>
                <a:latin typeface="Arial"/>
              </a:rPr>
              <a:t>Go2JoystickFlatTerrain-forward-medium-replay-v0</a:t>
            </a:r>
            <a:endParaRPr lang="pt-BR" sz="1200"/>
          </a:p>
          <a:p>
            <a:pPr algn="l"/>
            <a:r>
              <a:rPr lang="pt-BR" sz="1200" b="0">
                <a:solidFill>
                  <a:srgbClr val="111111"/>
                </a:solidFill>
                <a:latin typeface="Arial"/>
              </a:rPr>
              <a:t>go2-flat-forward/medium-replay-v0</a:t>
            </a:r>
            <a:endParaRPr lang="pt-BR" sz="1200"/>
          </a:p>
          <a:p>
            <a:pPr algn="l"/>
            <a:r>
              <a:rPr lang="pt-BR" sz="1200" b="0">
                <a:solidFill>
                  <a:srgbClr val="111111"/>
                </a:solidFill>
                <a:latin typeface="Arial"/>
              </a:rPr>
              <a:t>SHA-256: 299068623a932e2dae6e6cddb968bb07f27d3af123471628be4a69ceeea40ebd</a:t>
            </a:r>
            <a:endParaRPr lang="pt-BR" sz="1200"/>
          </a:p>
          <a:p>
            <a:pPr algn="l"/>
            <a:r>
              <a:rPr lang="pt-BR" sz="1200" b="0">
                <a:solidFill>
                  <a:srgbClr val="111111"/>
                </a:solidFill>
                <a:latin typeface="Arial"/>
              </a:rPr>
              <a:t>Go2JoystickFlatTerrain-forward-medium-v0</a:t>
            </a:r>
            <a:endParaRPr lang="pt-BR" sz="1200"/>
          </a:p>
          <a:p>
            <a:pPr algn="l"/>
            <a:r>
              <a:rPr lang="pt-BR" sz="1200" b="0">
                <a:solidFill>
                  <a:srgbClr val="111111"/>
                </a:solidFill>
                <a:latin typeface="Arial"/>
              </a:rPr>
              <a:t>go2-flat-forward/medium-v0</a:t>
            </a:r>
            <a:endParaRPr lang="pt-BR" sz="1200"/>
          </a:p>
          <a:p>
            <a:pPr algn="l"/>
            <a:r>
              <a:rPr lang="pt-BR" sz="1200" b="0">
                <a:solidFill>
                  <a:srgbClr val="111111"/>
                </a:solidFill>
                <a:latin typeface="Arial"/>
              </a:rPr>
              <a:t>SHA-256: 5a71f05e204262aae08aa41af4471e936a327b9c2515419fb2f298c2641fbd3d</a:t>
            </a:r>
            <a:endParaRPr lang="pt-BR" sz="1200"/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as"/>
          <p:cNvSpPr txBox="1"/>
          <p:nvPr>
            <p:ph type="body" idx="1"/>
          </p:nvPr>
        </p:nvSpPr>
        <p:spPr/>
        <p:txBody>
          <a:bodyPr/>
          <a:lstStyle/>
          <a:p>
            <a:pPr algn="l"/>
            <a:r>
              <a:rPr lang="pt-BR" sz="1200" b="0">
                <a:solidFill>
                  <a:srgbClr val="111111"/>
                </a:solidFill>
                <a:latin typeface="Arial"/>
              </a:rPr>
              <a:t>Plano definido no pipeline Go2: oito datasets x três seeds = 24 world models e 24 agentes. Referências: scripts/ovx/go2_datasets.tsv e scripts/ovx/submit_go2_full_pipeline.sh. O slide descreve o plano, não a disponibilidade ou conclusão das runs.</a:t>
            </a:r>
            <a:endParaRPr lang="pt-BR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ixa lateral clara"/>
          <p:cNvSpPr/>
          <p:nvPr/>
        </p:nvSpPr>
        <p:spPr>
          <a:xfrm>
            <a:off x="10698480" y="155448"/>
            <a:ext cx="1298448" cy="4507992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close/>
              </a:path>
            </a:pathLst>
          </a:custGeom>
          <a:solidFill>
            <a:srgbClr val="D8E7EF"/>
          </a:solidFill>
          <a:ln>
            <a:noFill/>
          </a:ln>
        </p:spPr>
      </p:sp>
      <p:sp>
        <p:nvSpPr>
          <p:cNvPr id="3" name="Faixa lateral intermediária"/>
          <p:cNvSpPr/>
          <p:nvPr/>
        </p:nvSpPr>
        <p:spPr>
          <a:xfrm>
            <a:off x="10826496" y="155448"/>
            <a:ext cx="1170432" cy="3822192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close/>
              </a:path>
            </a:pathLst>
          </a:custGeom>
          <a:solidFill>
            <a:srgbClr val="287CA6"/>
          </a:solidFill>
          <a:ln>
            <a:noFill/>
          </a:ln>
        </p:spPr>
      </p:sp>
      <p:sp>
        <p:nvSpPr>
          <p:cNvPr id="4" name="Faixa lateral azul"/>
          <p:cNvSpPr/>
          <p:nvPr/>
        </p:nvSpPr>
        <p:spPr>
          <a:xfrm>
            <a:off x="11000232" y="155448"/>
            <a:ext cx="996696" cy="3090672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close/>
              </a:path>
            </a:pathLst>
          </a:custGeom>
          <a:solidFill>
            <a:srgbClr val="0063A6"/>
          </a:solidFill>
          <a:ln>
            <a:noFill/>
          </a:ln>
        </p:spPr>
      </p:sp>
      <p:sp>
        <p:nvSpPr>
          <p:cNvPr id="5" name="Moldura roxa"/>
          <p:cNvSpPr/>
          <p:nvPr/>
        </p:nvSpPr>
        <p:spPr>
          <a:xfrm>
            <a:off x="210312" y="118872"/>
            <a:ext cx="11868912" cy="6611112"/>
          </a:xfrm>
          <a:prstGeom prst="rect">
            <a:avLst/>
          </a:prstGeom>
          <a:noFill/>
          <a:ln w="17780">
            <a:solidFill>
              <a:srgbClr val="9652FF"/>
            </a:solidFill>
          </a:ln>
        </p:spPr>
      </p:sp>
      <p:sp>
        <p:nvSpPr>
          <p:cNvPr id="6" name="Texto editável"/>
          <p:cNvSpPr/>
          <p:nvPr/>
        </p:nvSpPr>
        <p:spPr>
          <a:xfrm>
            <a:off x="640080" y="310896"/>
            <a:ext cx="10424160" cy="429768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30000" bIns="30000" anchor="ctr"/>
          <a:lstStyle/>
          <a:p>
            <a:pPr algn="ctr"/>
            <a:r>
              <a:rPr lang="pt-BR" sz="2500" b="1">
                <a:solidFill>
                  <a:srgbClr val="111111"/>
                </a:solidFill>
                <a:latin typeface="Arial"/>
              </a:rPr>
              <a:t>Datasets Go2</a:t>
            </a:r>
            <a:endParaRPr lang="pt-BR" sz="2500"/>
          </a:p>
        </p:txBody>
      </p:sp>
      <p:sp>
        <p:nvSpPr>
          <p:cNvPr id="7" name="Texto editável"/>
          <p:cNvSpPr/>
          <p:nvPr/>
        </p:nvSpPr>
        <p:spPr>
          <a:xfrm>
            <a:off x="11173968" y="6217920"/>
            <a:ext cx="320040" cy="219456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30000" bIns="30000" anchor="ctr"/>
          <a:lstStyle/>
          <a:p>
            <a:pPr algn="ctr"/>
            <a:r>
              <a:rPr lang="pt-BR" sz="1000" b="0">
                <a:solidFill>
                  <a:srgbClr val="111111"/>
                </a:solidFill>
                <a:latin typeface="Arial"/>
              </a:rPr>
              <a:t>1</a:t>
            </a:r>
            <a:endParaRPr lang="pt-BR" sz="1000"/>
          </a:p>
        </p:txBody>
      </p:sp>
      <p:sp>
        <p:nvSpPr>
          <p:cNvPr id="8" name="Texto editável"/>
          <p:cNvSpPr/>
          <p:nvPr/>
        </p:nvSpPr>
        <p:spPr>
          <a:xfrm>
            <a:off x="731520" y="1170432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30000" bIns="30000" anchor="ctr"/>
          <a:lstStyle/>
          <a:p>
            <a:pPr algn="ctr"/>
            <a:r>
              <a:rPr lang="pt-BR" sz="2600" b="1">
                <a:solidFill>
                  <a:srgbClr val="111111"/>
                </a:solidFill>
                <a:latin typeface="Arial"/>
              </a:rPr>
              <a:t>8 datasets para avaliar o NEUBAY</a:t>
            </a:r>
            <a:endParaRPr lang="pt-BR" sz="2600"/>
          </a:p>
        </p:txBody>
      </p:sp>
      <p:sp>
        <p:nvSpPr>
          <p:cNvPr id="9" name="Texto editável"/>
          <p:cNvSpPr/>
          <p:nvPr/>
        </p:nvSpPr>
        <p:spPr>
          <a:xfrm>
            <a:off x="731520" y="1865376"/>
            <a:ext cx="9966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30000" bIns="30000" anchor="ctr"/>
          <a:lstStyle/>
          <a:p>
            <a:pPr algn="ctr"/>
            <a:r>
              <a:rPr lang="pt-BR" sz="1300" b="1">
                <a:solidFill>
                  <a:srgbClr val="0063A6"/>
                </a:solidFill>
                <a:latin typeface="Arial"/>
              </a:rPr>
              <a:t>GO2 JOYSTICK DIRECTION</a:t>
            </a:r>
            <a:endParaRPr lang="pt-BR" sz="1300"/>
          </a:p>
        </p:txBody>
      </p:sp>
      <p:sp>
        <p:nvSpPr>
          <p:cNvPr id="10" name="Cartão editável"/>
          <p:cNvSpPr/>
          <p:nvPr/>
        </p:nvSpPr>
        <p:spPr>
          <a:xfrm>
            <a:off x="777240" y="2286000"/>
            <a:ext cx="2487168" cy="850392"/>
          </a:xfrm>
          <a:prstGeom prst="roundRect">
            <a:avLst/>
          </a:prstGeom>
          <a:solidFill>
            <a:srgbClr val="0063A6"/>
          </a:solidFill>
          <a:ln>
            <a:noFill/>
          </a:ln>
        </p:spPr>
        <p:txBody>
          <a:bodyPr wrap="square" lIns="90000" rIns="90000" tIns="30000" bIns="30000" anchor="ctr"/>
          <a:lstStyle/>
          <a:p>
            <a:pPr algn="ctr"/>
            <a:r>
              <a:rPr lang="pt-BR" sz="1700" b="1">
                <a:solidFill>
                  <a:srgbClr val="FFFFFF"/>
                </a:solidFill>
                <a:latin typeface="Arial"/>
              </a:rPr>
              <a:t>expert-v0</a:t>
            </a:r>
            <a:endParaRPr lang="pt-BR" sz="1700"/>
          </a:p>
        </p:txBody>
      </p:sp>
      <p:sp>
        <p:nvSpPr>
          <p:cNvPr id="11" name="Cartão editável"/>
          <p:cNvSpPr/>
          <p:nvPr/>
        </p:nvSpPr>
        <p:spPr>
          <a:xfrm>
            <a:off x="3474720" y="2286000"/>
            <a:ext cx="2487168" cy="850392"/>
          </a:xfrm>
          <a:prstGeom prst="roundRect">
            <a:avLst/>
          </a:prstGeom>
          <a:solidFill>
            <a:srgbClr val="0063A6"/>
          </a:solidFill>
          <a:ln>
            <a:noFill/>
          </a:ln>
        </p:spPr>
        <p:txBody>
          <a:bodyPr wrap="square" lIns="90000" rIns="90000" tIns="30000" bIns="30000" anchor="ctr"/>
          <a:lstStyle/>
          <a:p>
            <a:pPr algn="ctr"/>
            <a:r>
              <a:rPr lang="pt-BR" sz="1700" b="1">
                <a:solidFill>
                  <a:srgbClr val="FFFFFF"/>
                </a:solidFill>
                <a:latin typeface="Arial"/>
              </a:rPr>
              <a:t>medium-expert-v0</a:t>
            </a:r>
            <a:endParaRPr lang="pt-BR" sz="1700"/>
          </a:p>
        </p:txBody>
      </p:sp>
      <p:sp>
        <p:nvSpPr>
          <p:cNvPr id="12" name="Cartão editável"/>
          <p:cNvSpPr/>
          <p:nvPr/>
        </p:nvSpPr>
        <p:spPr>
          <a:xfrm>
            <a:off x="6172200" y="2286000"/>
            <a:ext cx="2487168" cy="850392"/>
          </a:xfrm>
          <a:prstGeom prst="roundRect">
            <a:avLst/>
          </a:prstGeom>
          <a:solidFill>
            <a:srgbClr val="0063A6"/>
          </a:solidFill>
          <a:ln>
            <a:noFill/>
          </a:ln>
        </p:spPr>
        <p:txBody>
          <a:bodyPr wrap="square" lIns="90000" rIns="90000" tIns="30000" bIns="30000" anchor="ctr"/>
          <a:lstStyle/>
          <a:p>
            <a:pPr algn="ctr"/>
            <a:r>
              <a:rPr lang="pt-BR" sz="1700" b="1">
                <a:solidFill>
                  <a:srgbClr val="FFFFFF"/>
                </a:solidFill>
                <a:latin typeface="Arial"/>
              </a:rPr>
              <a:t>medium-replay-v0</a:t>
            </a:r>
            <a:endParaRPr lang="pt-BR" sz="1700"/>
          </a:p>
        </p:txBody>
      </p:sp>
      <p:sp>
        <p:nvSpPr>
          <p:cNvPr id="13" name="Cartão editável"/>
          <p:cNvSpPr/>
          <p:nvPr/>
        </p:nvSpPr>
        <p:spPr>
          <a:xfrm>
            <a:off x="8869680" y="2286000"/>
            <a:ext cx="2487168" cy="850392"/>
          </a:xfrm>
          <a:prstGeom prst="roundRect">
            <a:avLst/>
          </a:prstGeom>
          <a:solidFill>
            <a:srgbClr val="0063A6"/>
          </a:solidFill>
          <a:ln>
            <a:noFill/>
          </a:ln>
        </p:spPr>
        <p:txBody>
          <a:bodyPr wrap="square" lIns="90000" rIns="90000" tIns="30000" bIns="30000" anchor="ctr"/>
          <a:lstStyle/>
          <a:p>
            <a:pPr algn="ctr"/>
            <a:r>
              <a:rPr lang="pt-BR" sz="1700" b="1">
                <a:solidFill>
                  <a:srgbClr val="FFFFFF"/>
                </a:solidFill>
                <a:latin typeface="Arial"/>
              </a:rPr>
              <a:t>medium-v0</a:t>
            </a:r>
            <a:endParaRPr lang="pt-BR" sz="1700"/>
          </a:p>
        </p:txBody>
      </p:sp>
      <p:sp>
        <p:nvSpPr>
          <p:cNvPr id="14" name="Texto editável"/>
          <p:cNvSpPr/>
          <p:nvPr/>
        </p:nvSpPr>
        <p:spPr>
          <a:xfrm>
            <a:off x="731520" y="3310128"/>
            <a:ext cx="9966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30000" bIns="30000" anchor="ctr"/>
          <a:lstStyle/>
          <a:p>
            <a:pPr algn="ctr"/>
            <a:r>
              <a:rPr lang="pt-BR" sz="1300" b="1">
                <a:solidFill>
                  <a:srgbClr val="0063A6"/>
                </a:solidFill>
                <a:latin typeface="Arial"/>
              </a:rPr>
              <a:t>GO2 FLAT FORWARD</a:t>
            </a:r>
            <a:endParaRPr lang="pt-BR" sz="1300"/>
          </a:p>
        </p:txBody>
      </p:sp>
      <p:sp>
        <p:nvSpPr>
          <p:cNvPr id="15" name="Cartão editável"/>
          <p:cNvSpPr/>
          <p:nvPr/>
        </p:nvSpPr>
        <p:spPr>
          <a:xfrm>
            <a:off x="777240" y="3730752"/>
            <a:ext cx="2487168" cy="850392"/>
          </a:xfrm>
          <a:prstGeom prst="roundRect">
            <a:avLst/>
          </a:prstGeom>
          <a:solidFill>
            <a:srgbClr val="0063A6"/>
          </a:solidFill>
          <a:ln>
            <a:noFill/>
          </a:ln>
        </p:spPr>
        <p:txBody>
          <a:bodyPr wrap="square" lIns="90000" rIns="90000" tIns="30000" bIns="30000" anchor="ctr"/>
          <a:lstStyle/>
          <a:p>
            <a:pPr algn="ctr"/>
            <a:r>
              <a:rPr lang="pt-BR" sz="1700" b="1">
                <a:solidFill>
                  <a:srgbClr val="FFFFFF"/>
                </a:solidFill>
                <a:latin typeface="Arial"/>
              </a:rPr>
              <a:t>expert-v0</a:t>
            </a:r>
            <a:endParaRPr lang="pt-BR" sz="1700"/>
          </a:p>
        </p:txBody>
      </p:sp>
      <p:sp>
        <p:nvSpPr>
          <p:cNvPr id="16" name="Cartão editável"/>
          <p:cNvSpPr/>
          <p:nvPr/>
        </p:nvSpPr>
        <p:spPr>
          <a:xfrm>
            <a:off x="3474720" y="3730752"/>
            <a:ext cx="2487168" cy="850392"/>
          </a:xfrm>
          <a:prstGeom prst="roundRect">
            <a:avLst/>
          </a:prstGeom>
          <a:solidFill>
            <a:srgbClr val="0063A6"/>
          </a:solidFill>
          <a:ln>
            <a:noFill/>
          </a:ln>
        </p:spPr>
        <p:txBody>
          <a:bodyPr wrap="square" lIns="90000" rIns="90000" tIns="30000" bIns="30000" anchor="ctr"/>
          <a:lstStyle/>
          <a:p>
            <a:pPr algn="ctr"/>
            <a:r>
              <a:rPr lang="pt-BR" sz="1700" b="1">
                <a:solidFill>
                  <a:srgbClr val="FFFFFF"/>
                </a:solidFill>
                <a:latin typeface="Arial"/>
              </a:rPr>
              <a:t>medium-expert-v0</a:t>
            </a:r>
            <a:endParaRPr lang="pt-BR" sz="1700"/>
          </a:p>
        </p:txBody>
      </p:sp>
      <p:sp>
        <p:nvSpPr>
          <p:cNvPr id="17" name="Cartão editável"/>
          <p:cNvSpPr/>
          <p:nvPr/>
        </p:nvSpPr>
        <p:spPr>
          <a:xfrm>
            <a:off x="6172200" y="3730752"/>
            <a:ext cx="2487168" cy="850392"/>
          </a:xfrm>
          <a:prstGeom prst="roundRect">
            <a:avLst/>
          </a:prstGeom>
          <a:solidFill>
            <a:srgbClr val="0063A6"/>
          </a:solidFill>
          <a:ln>
            <a:noFill/>
          </a:ln>
        </p:spPr>
        <p:txBody>
          <a:bodyPr wrap="square" lIns="90000" rIns="90000" tIns="30000" bIns="30000" anchor="ctr"/>
          <a:lstStyle/>
          <a:p>
            <a:pPr algn="ctr"/>
            <a:r>
              <a:rPr lang="pt-BR" sz="1700" b="1">
                <a:solidFill>
                  <a:srgbClr val="FFFFFF"/>
                </a:solidFill>
                <a:latin typeface="Arial"/>
              </a:rPr>
              <a:t>medium-replay-v0</a:t>
            </a:r>
            <a:endParaRPr lang="pt-BR" sz="1700"/>
          </a:p>
        </p:txBody>
      </p:sp>
      <p:sp>
        <p:nvSpPr>
          <p:cNvPr id="18" name="Cartão editável"/>
          <p:cNvSpPr/>
          <p:nvPr/>
        </p:nvSpPr>
        <p:spPr>
          <a:xfrm>
            <a:off x="8869680" y="3730752"/>
            <a:ext cx="2487168" cy="850392"/>
          </a:xfrm>
          <a:prstGeom prst="roundRect">
            <a:avLst/>
          </a:prstGeom>
          <a:solidFill>
            <a:srgbClr val="0063A6"/>
          </a:solidFill>
          <a:ln>
            <a:noFill/>
          </a:ln>
        </p:spPr>
        <p:txBody>
          <a:bodyPr wrap="square" lIns="90000" rIns="90000" tIns="30000" bIns="30000" anchor="ctr"/>
          <a:lstStyle/>
          <a:p>
            <a:pPr algn="ctr"/>
            <a:r>
              <a:rPr lang="pt-BR" sz="1700" b="1">
                <a:solidFill>
                  <a:srgbClr val="FFFFFF"/>
                </a:solidFill>
                <a:latin typeface="Arial"/>
              </a:rPr>
              <a:t>medium-v0</a:t>
            </a:r>
            <a:endParaRPr lang="pt-BR" sz="1700"/>
          </a:p>
        </p:txBody>
      </p:sp>
      <p:sp>
        <p:nvSpPr>
          <p:cNvPr id="19" name="Texto editável"/>
          <p:cNvSpPr/>
          <p:nvPr/>
        </p:nvSpPr>
        <p:spPr>
          <a:xfrm>
            <a:off x="1005840" y="5504688"/>
            <a:ext cx="9966960" cy="429768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30000" bIns="30000" anchor="ctr"/>
          <a:lstStyle/>
          <a:p>
            <a:pPr algn="ctr"/>
            <a:r>
              <a:rPr lang="pt-BR" sz="2000" b="1">
                <a:solidFill>
                  <a:srgbClr val="111111"/>
                </a:solidFill>
                <a:latin typeface="Arial"/>
              </a:rPr>
              <a:t>2 famílias de tarefas × 4 variantes de dados</a:t>
            </a:r>
            <a:endParaRPr lang="pt-BR" sz="20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ixa lateral clara"/>
          <p:cNvSpPr/>
          <p:nvPr/>
        </p:nvSpPr>
        <p:spPr>
          <a:xfrm>
            <a:off x="10698480" y="155448"/>
            <a:ext cx="1298448" cy="4507992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close/>
              </a:path>
            </a:pathLst>
          </a:custGeom>
          <a:solidFill>
            <a:srgbClr val="D8E7EF"/>
          </a:solidFill>
          <a:ln>
            <a:noFill/>
          </a:ln>
        </p:spPr>
      </p:sp>
      <p:sp>
        <p:nvSpPr>
          <p:cNvPr id="3" name="Faixa lateral intermediária"/>
          <p:cNvSpPr/>
          <p:nvPr/>
        </p:nvSpPr>
        <p:spPr>
          <a:xfrm>
            <a:off x="10826496" y="155448"/>
            <a:ext cx="1170432" cy="3822192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close/>
              </a:path>
            </a:pathLst>
          </a:custGeom>
          <a:solidFill>
            <a:srgbClr val="287CA6"/>
          </a:solidFill>
          <a:ln>
            <a:noFill/>
          </a:ln>
        </p:spPr>
      </p:sp>
      <p:sp>
        <p:nvSpPr>
          <p:cNvPr id="4" name="Faixa lateral azul"/>
          <p:cNvSpPr/>
          <p:nvPr/>
        </p:nvSpPr>
        <p:spPr>
          <a:xfrm>
            <a:off x="11000232" y="155448"/>
            <a:ext cx="996696" cy="3090672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close/>
              </a:path>
            </a:pathLst>
          </a:custGeom>
          <a:solidFill>
            <a:srgbClr val="0063A6"/>
          </a:solidFill>
          <a:ln>
            <a:noFill/>
          </a:ln>
        </p:spPr>
      </p:sp>
      <p:sp>
        <p:nvSpPr>
          <p:cNvPr id="5" name="Moldura roxa"/>
          <p:cNvSpPr/>
          <p:nvPr/>
        </p:nvSpPr>
        <p:spPr>
          <a:xfrm>
            <a:off x="210312" y="118872"/>
            <a:ext cx="11868912" cy="6611112"/>
          </a:xfrm>
          <a:prstGeom prst="rect">
            <a:avLst/>
          </a:prstGeom>
          <a:noFill/>
          <a:ln w="17780">
            <a:solidFill>
              <a:srgbClr val="9652FF"/>
            </a:solidFill>
          </a:ln>
        </p:spPr>
      </p:sp>
      <p:sp>
        <p:nvSpPr>
          <p:cNvPr id="6" name="Texto editável"/>
          <p:cNvSpPr/>
          <p:nvPr/>
        </p:nvSpPr>
        <p:spPr>
          <a:xfrm>
            <a:off x="640080" y="310896"/>
            <a:ext cx="10424160" cy="429768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30000" bIns="30000" anchor="ctr"/>
          <a:lstStyle/>
          <a:p>
            <a:pPr algn="ctr"/>
            <a:r>
              <a:rPr lang="pt-BR" sz="2500" b="1">
                <a:solidFill>
                  <a:srgbClr val="111111"/>
                </a:solidFill>
                <a:latin typeface="Arial"/>
              </a:rPr>
              <a:t>Go2 • Direction</a:t>
            </a:r>
            <a:endParaRPr lang="pt-BR" sz="2500"/>
          </a:p>
        </p:txBody>
      </p:sp>
      <p:sp>
        <p:nvSpPr>
          <p:cNvPr id="7" name="Texto editável"/>
          <p:cNvSpPr/>
          <p:nvPr/>
        </p:nvSpPr>
        <p:spPr>
          <a:xfrm>
            <a:off x="11173968" y="6217920"/>
            <a:ext cx="320040" cy="219456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30000" bIns="30000" anchor="ctr"/>
          <a:lstStyle/>
          <a:p>
            <a:pPr algn="ctr"/>
            <a:r>
              <a:rPr lang="pt-BR" sz="1000" b="0">
                <a:solidFill>
                  <a:srgbClr val="111111"/>
                </a:solidFill>
                <a:latin typeface="Arial"/>
              </a:rPr>
              <a:t>2</a:t>
            </a:r>
            <a:endParaRPr lang="pt-BR" sz="1000"/>
          </a:p>
        </p:txBody>
      </p:sp>
      <p:sp>
        <p:nvSpPr>
          <p:cNvPr id="8" name="Texto editável"/>
          <p:cNvSpPr/>
          <p:nvPr/>
        </p:nvSpPr>
        <p:spPr>
          <a:xfrm>
            <a:off x="777240" y="1161288"/>
            <a:ext cx="10332720" cy="502920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30000" bIns="30000" anchor="ctr"/>
          <a:lstStyle/>
          <a:p>
            <a:pPr algn="ctr"/>
            <a:r>
              <a:rPr lang="pt-BR" sz="2500" b="1">
                <a:solidFill>
                  <a:srgbClr val="111111"/>
                </a:solidFill>
                <a:latin typeface="Arial"/>
              </a:rPr>
              <a:t>4 variantes para a mesma família de tarefas</a:t>
            </a:r>
            <a:endParaRPr lang="pt-BR" sz="2500"/>
          </a:p>
        </p:txBody>
      </p:sp>
      <p:sp>
        <p:nvSpPr>
          <p:cNvPr id="9" name="Texto editável"/>
          <p:cNvSpPr/>
          <p:nvPr/>
        </p:nvSpPr>
        <p:spPr>
          <a:xfrm>
            <a:off x="1005840" y="1856232"/>
            <a:ext cx="9966960" cy="365760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30000" bIns="30000" anchor="ctr"/>
          <a:lstStyle/>
          <a:p>
            <a:pPr algn="ctr"/>
            <a:r>
              <a:rPr lang="pt-BR" sz="1800" b="1">
                <a:solidFill>
                  <a:srgbClr val="0063A6"/>
                </a:solidFill>
                <a:latin typeface="Arial"/>
              </a:rPr>
              <a:t>go2-joystick-direction</a:t>
            </a:r>
            <a:endParaRPr lang="pt-BR" sz="1800"/>
          </a:p>
        </p:txBody>
      </p:sp>
      <p:sp>
        <p:nvSpPr>
          <p:cNvPr id="10" name="Cartão editável"/>
          <p:cNvSpPr/>
          <p:nvPr/>
        </p:nvSpPr>
        <p:spPr>
          <a:xfrm>
            <a:off x="1828800" y="2697480"/>
            <a:ext cx="3794760" cy="868680"/>
          </a:xfrm>
          <a:prstGeom prst="roundRect">
            <a:avLst/>
          </a:prstGeom>
          <a:solidFill>
            <a:srgbClr val="0063A6"/>
          </a:solidFill>
          <a:ln>
            <a:noFill/>
          </a:ln>
        </p:spPr>
        <p:txBody>
          <a:bodyPr wrap="square" lIns="90000" rIns="90000" tIns="30000" bIns="30000" anchor="ctr"/>
          <a:lstStyle/>
          <a:p>
            <a:pPr algn="ctr"/>
            <a:r>
              <a:rPr lang="pt-BR" sz="2400" b="1">
                <a:solidFill>
                  <a:srgbClr val="FFFFFF"/>
                </a:solidFill>
                <a:latin typeface="Arial"/>
              </a:rPr>
              <a:t>expert-v0</a:t>
            </a:r>
            <a:endParaRPr lang="pt-BR" sz="2400"/>
          </a:p>
        </p:txBody>
      </p:sp>
      <p:sp>
        <p:nvSpPr>
          <p:cNvPr id="11" name="Cartão editável"/>
          <p:cNvSpPr/>
          <p:nvPr/>
        </p:nvSpPr>
        <p:spPr>
          <a:xfrm>
            <a:off x="6172200" y="2697480"/>
            <a:ext cx="3794760" cy="868680"/>
          </a:xfrm>
          <a:prstGeom prst="roundRect">
            <a:avLst/>
          </a:prstGeom>
          <a:solidFill>
            <a:srgbClr val="0063A6"/>
          </a:solidFill>
          <a:ln>
            <a:noFill/>
          </a:ln>
        </p:spPr>
        <p:txBody>
          <a:bodyPr wrap="square" lIns="90000" rIns="90000" tIns="30000" bIns="30000" anchor="ctr"/>
          <a:lstStyle/>
          <a:p>
            <a:pPr algn="ctr"/>
            <a:r>
              <a:rPr lang="pt-BR" sz="2400" b="1">
                <a:solidFill>
                  <a:srgbClr val="FFFFFF"/>
                </a:solidFill>
                <a:latin typeface="Arial"/>
              </a:rPr>
              <a:t>medium-expert-v0</a:t>
            </a:r>
            <a:endParaRPr lang="pt-BR" sz="2400"/>
          </a:p>
        </p:txBody>
      </p:sp>
      <p:sp>
        <p:nvSpPr>
          <p:cNvPr id="12" name="Cartão editável"/>
          <p:cNvSpPr/>
          <p:nvPr/>
        </p:nvSpPr>
        <p:spPr>
          <a:xfrm>
            <a:off x="1828800" y="3886200"/>
            <a:ext cx="3794760" cy="868680"/>
          </a:xfrm>
          <a:prstGeom prst="roundRect">
            <a:avLst/>
          </a:prstGeom>
          <a:solidFill>
            <a:srgbClr val="0063A6"/>
          </a:solidFill>
          <a:ln>
            <a:noFill/>
          </a:ln>
        </p:spPr>
        <p:txBody>
          <a:bodyPr wrap="square" lIns="90000" rIns="90000" tIns="30000" bIns="30000" anchor="ctr"/>
          <a:lstStyle/>
          <a:p>
            <a:pPr algn="ctr"/>
            <a:r>
              <a:rPr lang="pt-BR" sz="2400" b="1">
                <a:solidFill>
                  <a:srgbClr val="FFFFFF"/>
                </a:solidFill>
                <a:latin typeface="Arial"/>
              </a:rPr>
              <a:t>medium-replay-v0</a:t>
            </a:r>
            <a:endParaRPr lang="pt-BR" sz="2400"/>
          </a:p>
        </p:txBody>
      </p:sp>
      <p:sp>
        <p:nvSpPr>
          <p:cNvPr id="13" name="Cartão editável"/>
          <p:cNvSpPr/>
          <p:nvPr/>
        </p:nvSpPr>
        <p:spPr>
          <a:xfrm>
            <a:off x="6172200" y="3886200"/>
            <a:ext cx="3794760" cy="868680"/>
          </a:xfrm>
          <a:prstGeom prst="roundRect">
            <a:avLst/>
          </a:prstGeom>
          <a:solidFill>
            <a:srgbClr val="0063A6"/>
          </a:solidFill>
          <a:ln>
            <a:noFill/>
          </a:ln>
        </p:spPr>
        <p:txBody>
          <a:bodyPr wrap="square" lIns="90000" rIns="90000" tIns="30000" bIns="30000" anchor="ctr"/>
          <a:lstStyle/>
          <a:p>
            <a:pPr algn="ctr"/>
            <a:r>
              <a:rPr lang="pt-BR" sz="2400" b="1">
                <a:solidFill>
                  <a:srgbClr val="FFFFFF"/>
                </a:solidFill>
                <a:latin typeface="Arial"/>
              </a:rPr>
              <a:t>medium-v0</a:t>
            </a:r>
            <a:endParaRPr lang="pt-BR" sz="2400"/>
          </a:p>
        </p:txBody>
      </p:sp>
      <p:sp>
        <p:nvSpPr>
          <p:cNvPr id="14" name="Texto editável"/>
          <p:cNvSpPr/>
          <p:nvPr/>
        </p:nvSpPr>
        <p:spPr>
          <a:xfrm>
            <a:off x="868680" y="5157216"/>
            <a:ext cx="10149840" cy="320040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30000" bIns="30000" anchor="ctr"/>
          <a:lstStyle/>
          <a:p>
            <a:pPr algn="ctr"/>
            <a:r>
              <a:rPr lang="pt-BR" sz="1600" b="0">
                <a:solidFill>
                  <a:srgbClr val="111111"/>
                </a:solidFill>
                <a:latin typeface="Arial"/>
              </a:rPr>
              <a:t>Identificador local: Go2JoystickFlatTerrain-direction-&lt;variante&gt;</a:t>
            </a:r>
            <a:endParaRPr lang="pt-BR" sz="1600"/>
          </a:p>
        </p:txBody>
      </p:sp>
      <p:sp>
        <p:nvSpPr>
          <p:cNvPr id="15" name="Texto editável"/>
          <p:cNvSpPr/>
          <p:nvPr/>
        </p:nvSpPr>
        <p:spPr>
          <a:xfrm>
            <a:off x="1005840" y="5705856"/>
            <a:ext cx="9966960" cy="292608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30000" bIns="30000" anchor="ctr"/>
          <a:lstStyle/>
          <a:p>
            <a:pPr algn="ctr"/>
            <a:r>
              <a:rPr lang="pt-BR" sz="1400" b="0">
                <a:solidFill>
                  <a:srgbClr val="596674"/>
                </a:solidFill>
                <a:latin typeface="Arial"/>
              </a:rPr>
              <a:t>Fonte: akcit-rl/playground  •  Formato: HDF5</a:t>
            </a:r>
            <a:endParaRPr lang="pt-BR" sz="14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ixa lateral clara"/>
          <p:cNvSpPr/>
          <p:nvPr/>
        </p:nvSpPr>
        <p:spPr>
          <a:xfrm>
            <a:off x="10698480" y="155448"/>
            <a:ext cx="1298448" cy="4507992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close/>
              </a:path>
            </a:pathLst>
          </a:custGeom>
          <a:solidFill>
            <a:srgbClr val="D8E7EF"/>
          </a:solidFill>
          <a:ln>
            <a:noFill/>
          </a:ln>
        </p:spPr>
      </p:sp>
      <p:sp>
        <p:nvSpPr>
          <p:cNvPr id="3" name="Faixa lateral intermediária"/>
          <p:cNvSpPr/>
          <p:nvPr/>
        </p:nvSpPr>
        <p:spPr>
          <a:xfrm>
            <a:off x="10826496" y="155448"/>
            <a:ext cx="1170432" cy="3822192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close/>
              </a:path>
            </a:pathLst>
          </a:custGeom>
          <a:solidFill>
            <a:srgbClr val="287CA6"/>
          </a:solidFill>
          <a:ln>
            <a:noFill/>
          </a:ln>
        </p:spPr>
      </p:sp>
      <p:sp>
        <p:nvSpPr>
          <p:cNvPr id="4" name="Faixa lateral azul"/>
          <p:cNvSpPr/>
          <p:nvPr/>
        </p:nvSpPr>
        <p:spPr>
          <a:xfrm>
            <a:off x="11000232" y="155448"/>
            <a:ext cx="996696" cy="3090672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close/>
              </a:path>
            </a:pathLst>
          </a:custGeom>
          <a:solidFill>
            <a:srgbClr val="0063A6"/>
          </a:solidFill>
          <a:ln>
            <a:noFill/>
          </a:ln>
        </p:spPr>
      </p:sp>
      <p:sp>
        <p:nvSpPr>
          <p:cNvPr id="5" name="Moldura roxa"/>
          <p:cNvSpPr/>
          <p:nvPr/>
        </p:nvSpPr>
        <p:spPr>
          <a:xfrm>
            <a:off x="210312" y="118872"/>
            <a:ext cx="11868912" cy="6611112"/>
          </a:xfrm>
          <a:prstGeom prst="rect">
            <a:avLst/>
          </a:prstGeom>
          <a:noFill/>
          <a:ln w="17780">
            <a:solidFill>
              <a:srgbClr val="9652FF"/>
            </a:solidFill>
          </a:ln>
        </p:spPr>
      </p:sp>
      <p:sp>
        <p:nvSpPr>
          <p:cNvPr id="6" name="Texto editável"/>
          <p:cNvSpPr/>
          <p:nvPr/>
        </p:nvSpPr>
        <p:spPr>
          <a:xfrm>
            <a:off x="640080" y="310896"/>
            <a:ext cx="10424160" cy="429768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30000" bIns="30000" anchor="ctr"/>
          <a:lstStyle/>
          <a:p>
            <a:pPr algn="ctr"/>
            <a:r>
              <a:rPr lang="pt-BR" sz="2500" b="1">
                <a:solidFill>
                  <a:srgbClr val="111111"/>
                </a:solidFill>
                <a:latin typeface="Arial"/>
              </a:rPr>
              <a:t>Go2 • Forward</a:t>
            </a:r>
            <a:endParaRPr lang="pt-BR" sz="2500"/>
          </a:p>
        </p:txBody>
      </p:sp>
      <p:sp>
        <p:nvSpPr>
          <p:cNvPr id="7" name="Texto editável"/>
          <p:cNvSpPr/>
          <p:nvPr/>
        </p:nvSpPr>
        <p:spPr>
          <a:xfrm>
            <a:off x="11173968" y="6217920"/>
            <a:ext cx="320040" cy="219456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30000" bIns="30000" anchor="ctr"/>
          <a:lstStyle/>
          <a:p>
            <a:pPr algn="ctr"/>
            <a:r>
              <a:rPr lang="pt-BR" sz="1000" b="0">
                <a:solidFill>
                  <a:srgbClr val="111111"/>
                </a:solidFill>
                <a:latin typeface="Arial"/>
              </a:rPr>
              <a:t>3</a:t>
            </a:r>
            <a:endParaRPr lang="pt-BR" sz="1000"/>
          </a:p>
        </p:txBody>
      </p:sp>
      <p:sp>
        <p:nvSpPr>
          <p:cNvPr id="8" name="Texto editável"/>
          <p:cNvSpPr/>
          <p:nvPr/>
        </p:nvSpPr>
        <p:spPr>
          <a:xfrm>
            <a:off x="777240" y="1161288"/>
            <a:ext cx="10332720" cy="502920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30000" bIns="30000" anchor="ctr"/>
          <a:lstStyle/>
          <a:p>
            <a:pPr algn="ctr"/>
            <a:r>
              <a:rPr lang="pt-BR" sz="2500" b="1">
                <a:solidFill>
                  <a:srgbClr val="111111"/>
                </a:solidFill>
                <a:latin typeface="Arial"/>
              </a:rPr>
              <a:t>4 variantes para a mesma família de tarefas</a:t>
            </a:r>
            <a:endParaRPr lang="pt-BR" sz="2500"/>
          </a:p>
        </p:txBody>
      </p:sp>
      <p:sp>
        <p:nvSpPr>
          <p:cNvPr id="9" name="Texto editável"/>
          <p:cNvSpPr/>
          <p:nvPr/>
        </p:nvSpPr>
        <p:spPr>
          <a:xfrm>
            <a:off x="1005840" y="1856232"/>
            <a:ext cx="9966960" cy="365760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30000" bIns="30000" anchor="ctr"/>
          <a:lstStyle/>
          <a:p>
            <a:pPr algn="ctr"/>
            <a:r>
              <a:rPr lang="pt-BR" sz="1800" b="1">
                <a:solidFill>
                  <a:srgbClr val="0063A6"/>
                </a:solidFill>
                <a:latin typeface="Arial"/>
              </a:rPr>
              <a:t>go2-flat-forward</a:t>
            </a:r>
            <a:endParaRPr lang="pt-BR" sz="1800"/>
          </a:p>
        </p:txBody>
      </p:sp>
      <p:sp>
        <p:nvSpPr>
          <p:cNvPr id="10" name="Cartão editável"/>
          <p:cNvSpPr/>
          <p:nvPr/>
        </p:nvSpPr>
        <p:spPr>
          <a:xfrm>
            <a:off x="1828800" y="2697480"/>
            <a:ext cx="3794760" cy="868680"/>
          </a:xfrm>
          <a:prstGeom prst="roundRect">
            <a:avLst/>
          </a:prstGeom>
          <a:solidFill>
            <a:srgbClr val="0063A6"/>
          </a:solidFill>
          <a:ln>
            <a:noFill/>
          </a:ln>
        </p:spPr>
        <p:txBody>
          <a:bodyPr wrap="square" lIns="90000" rIns="90000" tIns="30000" bIns="30000" anchor="ctr"/>
          <a:lstStyle/>
          <a:p>
            <a:pPr algn="ctr"/>
            <a:r>
              <a:rPr lang="pt-BR" sz="2400" b="1">
                <a:solidFill>
                  <a:srgbClr val="FFFFFF"/>
                </a:solidFill>
                <a:latin typeface="Arial"/>
              </a:rPr>
              <a:t>expert-v0</a:t>
            </a:r>
            <a:endParaRPr lang="pt-BR" sz="2400"/>
          </a:p>
        </p:txBody>
      </p:sp>
      <p:sp>
        <p:nvSpPr>
          <p:cNvPr id="11" name="Cartão editável"/>
          <p:cNvSpPr/>
          <p:nvPr/>
        </p:nvSpPr>
        <p:spPr>
          <a:xfrm>
            <a:off x="6172200" y="2697480"/>
            <a:ext cx="3794760" cy="868680"/>
          </a:xfrm>
          <a:prstGeom prst="roundRect">
            <a:avLst/>
          </a:prstGeom>
          <a:solidFill>
            <a:srgbClr val="0063A6"/>
          </a:solidFill>
          <a:ln>
            <a:noFill/>
          </a:ln>
        </p:spPr>
        <p:txBody>
          <a:bodyPr wrap="square" lIns="90000" rIns="90000" tIns="30000" bIns="30000" anchor="ctr"/>
          <a:lstStyle/>
          <a:p>
            <a:pPr algn="ctr"/>
            <a:r>
              <a:rPr lang="pt-BR" sz="2400" b="1">
                <a:solidFill>
                  <a:srgbClr val="FFFFFF"/>
                </a:solidFill>
                <a:latin typeface="Arial"/>
              </a:rPr>
              <a:t>medium-expert-v0</a:t>
            </a:r>
            <a:endParaRPr lang="pt-BR" sz="2400"/>
          </a:p>
        </p:txBody>
      </p:sp>
      <p:sp>
        <p:nvSpPr>
          <p:cNvPr id="12" name="Cartão editável"/>
          <p:cNvSpPr/>
          <p:nvPr/>
        </p:nvSpPr>
        <p:spPr>
          <a:xfrm>
            <a:off x="1828800" y="3886200"/>
            <a:ext cx="3794760" cy="868680"/>
          </a:xfrm>
          <a:prstGeom prst="roundRect">
            <a:avLst/>
          </a:prstGeom>
          <a:solidFill>
            <a:srgbClr val="0063A6"/>
          </a:solidFill>
          <a:ln>
            <a:noFill/>
          </a:ln>
        </p:spPr>
        <p:txBody>
          <a:bodyPr wrap="square" lIns="90000" rIns="90000" tIns="30000" bIns="30000" anchor="ctr"/>
          <a:lstStyle/>
          <a:p>
            <a:pPr algn="ctr"/>
            <a:r>
              <a:rPr lang="pt-BR" sz="2400" b="1">
                <a:solidFill>
                  <a:srgbClr val="FFFFFF"/>
                </a:solidFill>
                <a:latin typeface="Arial"/>
              </a:rPr>
              <a:t>medium-replay-v0</a:t>
            </a:r>
            <a:endParaRPr lang="pt-BR" sz="2400"/>
          </a:p>
        </p:txBody>
      </p:sp>
      <p:sp>
        <p:nvSpPr>
          <p:cNvPr id="13" name="Cartão editável"/>
          <p:cNvSpPr/>
          <p:nvPr/>
        </p:nvSpPr>
        <p:spPr>
          <a:xfrm>
            <a:off x="6172200" y="3886200"/>
            <a:ext cx="3794760" cy="868680"/>
          </a:xfrm>
          <a:prstGeom prst="roundRect">
            <a:avLst/>
          </a:prstGeom>
          <a:solidFill>
            <a:srgbClr val="0063A6"/>
          </a:solidFill>
          <a:ln>
            <a:noFill/>
          </a:ln>
        </p:spPr>
        <p:txBody>
          <a:bodyPr wrap="square" lIns="90000" rIns="90000" tIns="30000" bIns="30000" anchor="ctr"/>
          <a:lstStyle/>
          <a:p>
            <a:pPr algn="ctr"/>
            <a:r>
              <a:rPr lang="pt-BR" sz="2400" b="1">
                <a:solidFill>
                  <a:srgbClr val="FFFFFF"/>
                </a:solidFill>
                <a:latin typeface="Arial"/>
              </a:rPr>
              <a:t>medium-v0</a:t>
            </a:r>
            <a:endParaRPr lang="pt-BR" sz="2400"/>
          </a:p>
        </p:txBody>
      </p:sp>
      <p:sp>
        <p:nvSpPr>
          <p:cNvPr id="14" name="Texto editável"/>
          <p:cNvSpPr/>
          <p:nvPr/>
        </p:nvSpPr>
        <p:spPr>
          <a:xfrm>
            <a:off x="868680" y="5157216"/>
            <a:ext cx="10149840" cy="320040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30000" bIns="30000" anchor="ctr"/>
          <a:lstStyle/>
          <a:p>
            <a:pPr algn="ctr"/>
            <a:r>
              <a:rPr lang="pt-BR" sz="1600" b="0">
                <a:solidFill>
                  <a:srgbClr val="111111"/>
                </a:solidFill>
                <a:latin typeface="Arial"/>
              </a:rPr>
              <a:t>Identificador local: Go2JoystickFlatTerrain-forward-&lt;variante&gt;</a:t>
            </a:r>
            <a:endParaRPr lang="pt-BR" sz="1600"/>
          </a:p>
        </p:txBody>
      </p:sp>
      <p:sp>
        <p:nvSpPr>
          <p:cNvPr id="15" name="Texto editável"/>
          <p:cNvSpPr/>
          <p:nvPr/>
        </p:nvSpPr>
        <p:spPr>
          <a:xfrm>
            <a:off x="1005840" y="5705856"/>
            <a:ext cx="9966960" cy="292608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30000" bIns="30000" anchor="ctr"/>
          <a:lstStyle/>
          <a:p>
            <a:pPr algn="ctr"/>
            <a:r>
              <a:rPr lang="pt-BR" sz="1400" b="0">
                <a:solidFill>
                  <a:srgbClr val="596674"/>
                </a:solidFill>
                <a:latin typeface="Arial"/>
              </a:rPr>
              <a:t>Fonte: akcit-rl/playground  •  Formato: HDF5</a:t>
            </a:r>
            <a:endParaRPr lang="pt-BR" sz="14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ixa lateral clara"/>
          <p:cNvSpPr/>
          <p:nvPr/>
        </p:nvSpPr>
        <p:spPr>
          <a:xfrm>
            <a:off x="10698480" y="155448"/>
            <a:ext cx="1298448" cy="4507992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close/>
              </a:path>
            </a:pathLst>
          </a:custGeom>
          <a:solidFill>
            <a:srgbClr val="D8E7EF"/>
          </a:solidFill>
          <a:ln>
            <a:noFill/>
          </a:ln>
        </p:spPr>
      </p:sp>
      <p:sp>
        <p:nvSpPr>
          <p:cNvPr id="3" name="Faixa lateral intermediária"/>
          <p:cNvSpPr/>
          <p:nvPr/>
        </p:nvSpPr>
        <p:spPr>
          <a:xfrm>
            <a:off x="10826496" y="155448"/>
            <a:ext cx="1170432" cy="3822192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close/>
              </a:path>
            </a:pathLst>
          </a:custGeom>
          <a:solidFill>
            <a:srgbClr val="287CA6"/>
          </a:solidFill>
          <a:ln>
            <a:noFill/>
          </a:ln>
        </p:spPr>
      </p:sp>
      <p:sp>
        <p:nvSpPr>
          <p:cNvPr id="4" name="Faixa lateral azul"/>
          <p:cNvSpPr/>
          <p:nvPr/>
        </p:nvSpPr>
        <p:spPr>
          <a:xfrm>
            <a:off x="11000232" y="155448"/>
            <a:ext cx="996696" cy="3090672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close/>
              </a:path>
            </a:pathLst>
          </a:custGeom>
          <a:solidFill>
            <a:srgbClr val="0063A6"/>
          </a:solidFill>
          <a:ln>
            <a:noFill/>
          </a:ln>
        </p:spPr>
      </p:sp>
      <p:sp>
        <p:nvSpPr>
          <p:cNvPr id="5" name="Moldura roxa"/>
          <p:cNvSpPr/>
          <p:nvPr/>
        </p:nvSpPr>
        <p:spPr>
          <a:xfrm>
            <a:off x="210312" y="118872"/>
            <a:ext cx="11868912" cy="6611112"/>
          </a:xfrm>
          <a:prstGeom prst="rect">
            <a:avLst/>
          </a:prstGeom>
          <a:noFill/>
          <a:ln w="17780">
            <a:solidFill>
              <a:srgbClr val="9652FF"/>
            </a:solidFill>
          </a:ln>
        </p:spPr>
      </p:sp>
      <p:sp>
        <p:nvSpPr>
          <p:cNvPr id="6" name="Texto editável"/>
          <p:cNvSpPr/>
          <p:nvPr/>
        </p:nvSpPr>
        <p:spPr>
          <a:xfrm>
            <a:off x="640080" y="310896"/>
            <a:ext cx="10424160" cy="429768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30000" bIns="30000" anchor="ctr"/>
          <a:lstStyle/>
          <a:p>
            <a:pPr algn="ctr"/>
            <a:r>
              <a:rPr lang="pt-BR" sz="2500" b="1">
                <a:solidFill>
                  <a:srgbClr val="111111"/>
                </a:solidFill>
                <a:latin typeface="Arial"/>
              </a:rPr>
              <a:t>Plano experimental</a:t>
            </a:r>
            <a:endParaRPr lang="pt-BR" sz="2500"/>
          </a:p>
        </p:txBody>
      </p:sp>
      <p:sp>
        <p:nvSpPr>
          <p:cNvPr id="7" name="Texto editável"/>
          <p:cNvSpPr/>
          <p:nvPr/>
        </p:nvSpPr>
        <p:spPr>
          <a:xfrm>
            <a:off x="11173968" y="6217920"/>
            <a:ext cx="320040" cy="219456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30000" bIns="30000" anchor="ctr"/>
          <a:lstStyle/>
          <a:p>
            <a:pPr algn="ctr"/>
            <a:r>
              <a:rPr lang="pt-BR" sz="1000" b="0">
                <a:solidFill>
                  <a:srgbClr val="111111"/>
                </a:solidFill>
                <a:latin typeface="Arial"/>
              </a:rPr>
              <a:t>4</a:t>
            </a:r>
            <a:endParaRPr lang="pt-BR" sz="1000"/>
          </a:p>
        </p:txBody>
      </p:sp>
      <p:sp>
        <p:nvSpPr>
          <p:cNvPr id="8" name="Texto editável"/>
          <p:cNvSpPr/>
          <p:nvPr/>
        </p:nvSpPr>
        <p:spPr>
          <a:xfrm>
            <a:off x="777240" y="1170432"/>
            <a:ext cx="10332720" cy="502920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30000" bIns="30000" anchor="ctr"/>
          <a:lstStyle/>
          <a:p>
            <a:pPr algn="ctr"/>
            <a:r>
              <a:rPr lang="pt-BR" sz="2600" b="1">
                <a:solidFill>
                  <a:srgbClr val="111111"/>
                </a:solidFill>
                <a:latin typeface="Arial"/>
              </a:rPr>
              <a:t>Comparação entre datasets e seeds</a:t>
            </a:r>
            <a:endParaRPr lang="pt-BR" sz="2600"/>
          </a:p>
        </p:txBody>
      </p:sp>
      <p:sp>
        <p:nvSpPr>
          <p:cNvPr id="9" name="Cartão editável"/>
          <p:cNvSpPr/>
          <p:nvPr/>
        </p:nvSpPr>
        <p:spPr>
          <a:xfrm>
            <a:off x="960120" y="2404872"/>
            <a:ext cx="2944368" cy="932688"/>
          </a:xfrm>
          <a:prstGeom prst="roundRect">
            <a:avLst/>
          </a:prstGeom>
          <a:solidFill>
            <a:srgbClr val="0063A6"/>
          </a:solidFill>
          <a:ln>
            <a:noFill/>
          </a:ln>
        </p:spPr>
        <p:txBody>
          <a:bodyPr wrap="square" lIns="90000" rIns="90000" tIns="30000" bIns="30000" anchor="ctr"/>
          <a:lstStyle/>
          <a:p>
            <a:pPr algn="ctr"/>
            <a:r>
              <a:rPr lang="pt-BR" sz="2500" b="1">
                <a:solidFill>
                  <a:srgbClr val="FFFFFF"/>
                </a:solidFill>
                <a:latin typeface="Arial"/>
              </a:rPr>
              <a:t>8 datasets</a:t>
            </a:r>
            <a:endParaRPr lang="pt-BR" sz="2500"/>
          </a:p>
        </p:txBody>
      </p:sp>
      <p:sp>
        <p:nvSpPr>
          <p:cNvPr id="10" name="Cartão editável"/>
          <p:cNvSpPr/>
          <p:nvPr/>
        </p:nvSpPr>
        <p:spPr>
          <a:xfrm>
            <a:off x="4526280" y="2404872"/>
            <a:ext cx="2944368" cy="932688"/>
          </a:xfrm>
          <a:prstGeom prst="roundRect">
            <a:avLst/>
          </a:prstGeom>
          <a:solidFill>
            <a:srgbClr val="0063A6"/>
          </a:solidFill>
          <a:ln>
            <a:noFill/>
          </a:ln>
        </p:spPr>
        <p:txBody>
          <a:bodyPr wrap="square" lIns="90000" rIns="90000" tIns="30000" bIns="30000" anchor="ctr"/>
          <a:lstStyle/>
          <a:p>
            <a:pPr algn="ctr"/>
            <a:r>
              <a:rPr lang="pt-BR" sz="2500" b="1">
                <a:solidFill>
                  <a:srgbClr val="FFFFFF"/>
                </a:solidFill>
                <a:latin typeface="Arial"/>
              </a:rPr>
              <a:t>3 seeds</a:t>
            </a:r>
            <a:endParaRPr lang="pt-BR" sz="2500"/>
          </a:p>
        </p:txBody>
      </p:sp>
      <p:sp>
        <p:nvSpPr>
          <p:cNvPr id="11" name="Cartão editável"/>
          <p:cNvSpPr/>
          <p:nvPr/>
        </p:nvSpPr>
        <p:spPr>
          <a:xfrm>
            <a:off x="8092440" y="2404872"/>
            <a:ext cx="2944368" cy="932688"/>
          </a:xfrm>
          <a:prstGeom prst="roundRect">
            <a:avLst/>
          </a:prstGeom>
          <a:solidFill>
            <a:srgbClr val="0063A6"/>
          </a:solidFill>
          <a:ln>
            <a:noFill/>
          </a:ln>
        </p:spPr>
        <p:txBody>
          <a:bodyPr wrap="square" lIns="90000" rIns="90000" tIns="30000" bIns="30000" anchor="ctr"/>
          <a:lstStyle/>
          <a:p>
            <a:pPr algn="ctr"/>
            <a:r>
              <a:rPr lang="pt-BR" sz="2500" b="1">
                <a:solidFill>
                  <a:srgbClr val="FFFFFF"/>
                </a:solidFill>
                <a:latin typeface="Arial"/>
              </a:rPr>
              <a:t>48 treinos</a:t>
            </a:r>
            <a:endParaRPr lang="pt-BR" sz="2500"/>
          </a:p>
        </p:txBody>
      </p:sp>
      <p:sp>
        <p:nvSpPr>
          <p:cNvPr id="12" name="Texto editável"/>
          <p:cNvSpPr/>
          <p:nvPr/>
        </p:nvSpPr>
        <p:spPr>
          <a:xfrm>
            <a:off x="960120" y="3547872"/>
            <a:ext cx="2944368" cy="585216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30000" bIns="30000" anchor="ctr"/>
          <a:lstStyle/>
          <a:p>
            <a:pPr algn="ctr"/>
            <a:r>
              <a:rPr lang="pt-BR" sz="1600" b="0">
                <a:solidFill>
                  <a:srgbClr val="111111"/>
                </a:solidFill>
                <a:latin typeface="Arial"/>
              </a:rPr>
              <a:t>Direction + Forward</a:t>
            </a:r>
            <a:endParaRPr lang="pt-BR" sz="1600"/>
          </a:p>
          <a:p>
            <a:pPr algn="ctr"/>
            <a:r>
              <a:rPr lang="pt-BR" sz="1600" b="0">
                <a:solidFill>
                  <a:srgbClr val="111111"/>
                </a:solidFill>
                <a:latin typeface="Arial"/>
              </a:rPr>
              <a:t>4 variantes por família</a:t>
            </a:r>
            <a:endParaRPr lang="pt-BR" sz="1600"/>
          </a:p>
        </p:txBody>
      </p:sp>
      <p:sp>
        <p:nvSpPr>
          <p:cNvPr id="13" name="Texto editável"/>
          <p:cNvSpPr/>
          <p:nvPr/>
        </p:nvSpPr>
        <p:spPr>
          <a:xfrm>
            <a:off x="4526280" y="3547872"/>
            <a:ext cx="2944368" cy="585216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30000" bIns="30000" anchor="ctr"/>
          <a:lstStyle/>
          <a:p>
            <a:pPr algn="ctr"/>
            <a:r>
              <a:rPr lang="pt-BR" sz="1600" b="0">
                <a:solidFill>
                  <a:srgbClr val="111111"/>
                </a:solidFill>
                <a:latin typeface="Arial"/>
              </a:rPr>
              <a:t>Seeds 0, 1 e 2</a:t>
            </a:r>
            <a:endParaRPr lang="pt-BR" sz="1600"/>
          </a:p>
          <a:p>
            <a:pPr algn="ctr"/>
            <a:r>
              <a:rPr lang="pt-BR" sz="1600" b="0">
                <a:solidFill>
                  <a:srgbClr val="111111"/>
                </a:solidFill>
                <a:latin typeface="Arial"/>
              </a:rPr>
              <a:t>para cada dataset</a:t>
            </a:r>
            <a:endParaRPr lang="pt-BR" sz="1600"/>
          </a:p>
        </p:txBody>
      </p:sp>
      <p:sp>
        <p:nvSpPr>
          <p:cNvPr id="14" name="Texto editável"/>
          <p:cNvSpPr/>
          <p:nvPr/>
        </p:nvSpPr>
        <p:spPr>
          <a:xfrm>
            <a:off x="8092440" y="3547872"/>
            <a:ext cx="2944368" cy="585216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30000" bIns="30000" anchor="ctr"/>
          <a:lstStyle/>
          <a:p>
            <a:pPr algn="ctr"/>
            <a:r>
              <a:rPr lang="pt-BR" sz="1600" b="0">
                <a:solidFill>
                  <a:srgbClr val="111111"/>
                </a:solidFill>
                <a:latin typeface="Arial"/>
              </a:rPr>
              <a:t>24 world models</a:t>
            </a:r>
            <a:endParaRPr lang="pt-BR" sz="1600"/>
          </a:p>
          <a:p>
            <a:pPr algn="ctr"/>
            <a:r>
              <a:rPr lang="pt-BR" sz="1600" b="0">
                <a:solidFill>
                  <a:srgbClr val="111111"/>
                </a:solidFill>
                <a:latin typeface="Arial"/>
              </a:rPr>
              <a:t>+ 24 agentes</a:t>
            </a:r>
            <a:endParaRPr lang="pt-BR" sz="1600"/>
          </a:p>
        </p:txBody>
      </p:sp>
      <p:sp>
        <p:nvSpPr>
          <p:cNvPr id="15" name="Texto editável"/>
          <p:cNvSpPr/>
          <p:nvPr/>
        </p:nvSpPr>
        <p:spPr>
          <a:xfrm>
            <a:off x="914400" y="4937760"/>
            <a:ext cx="10241280" cy="457200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30000" bIns="30000" anchor="ctr"/>
          <a:lstStyle/>
          <a:p>
            <a:pPr algn="ctr"/>
            <a:r>
              <a:rPr lang="pt-BR" sz="1900" b="1">
                <a:solidFill>
                  <a:srgbClr val="111111"/>
                </a:solidFill>
                <a:latin typeface="Arial"/>
              </a:rPr>
              <a:t>Dataset  →  World model  →  Agente NEUBAY  →  Avaliação</a:t>
            </a:r>
            <a:endParaRPr lang="pt-BR" sz="1900"/>
          </a:p>
        </p:txBody>
      </p:sp>
      <p:sp>
        <p:nvSpPr>
          <p:cNvPr id="16" name="Texto editável"/>
          <p:cNvSpPr/>
          <p:nvPr/>
        </p:nvSpPr>
        <p:spPr>
          <a:xfrm>
            <a:off x="914400" y="5614416"/>
            <a:ext cx="10241280" cy="347472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30000" bIns="30000" anchor="ctr"/>
          <a:lstStyle/>
          <a:p>
            <a:pPr algn="ctr"/>
            <a:r>
              <a:rPr lang="pt-BR" sz="1300" b="0">
                <a:solidFill>
                  <a:srgbClr val="596674"/>
                </a:solidFill>
                <a:latin typeface="Arial"/>
              </a:rPr>
              <a:t>Planejamento dos experimentos — não indica treinos concluídos.</a:t>
            </a:r>
            <a:endParaRPr lang="pt-BR" sz="1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o2 Azul">
  <a:themeElements>
    <a:clrScheme name="Go2">
      <a:dk1>
        <a:srgbClr val="000000"/>
      </a:dk1>
      <a:lt1>
        <a:srgbClr val="FFFFFF"/>
      </a:lt1>
      <a:dk2>
        <a:srgbClr val="173C52"/>
      </a:dk2>
      <a:lt2>
        <a:srgbClr val="F4F7FA"/>
      </a:lt2>
      <a:accent1>
        <a:srgbClr val="0063A6"/>
      </a:accent1>
      <a:accent2>
        <a:srgbClr val="9652FF"/>
      </a:accent2>
      <a:accent3>
        <a:srgbClr val="287CA6"/>
      </a:accent3>
      <a:accent4>
        <a:srgbClr val="00818A"/>
      </a:accent4>
      <a:accent5>
        <a:srgbClr val="D28B29"/>
      </a:accent5>
      <a:accent6>
        <a:srgbClr val="596674"/>
      </a:accent6>
      <a:hlink>
        <a:srgbClr val="0063A6"/>
      </a:hlink>
      <a:folHlink>
        <a:srgbClr val="9652FF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Go2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